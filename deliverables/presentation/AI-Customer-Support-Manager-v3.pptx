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358f226574f08" /><Relationship Type="http://schemas.openxmlformats.org/officeDocument/2006/relationships/extended-properties" Target="/docProps/app.xml" Id="R1ce05d9331224363" /><Relationship Type="http://schemas.openxmlformats.org/officeDocument/2006/relationships/officeDocument" Target="/ppt/presentation.xml" Id="R8b059068706b44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4ef1e0ca3b4d43"/>
  </p:sldMasterIdLst>
  <p:notesMasterIdLst>
    <p:notesMasterId xmlns:r="http://schemas.openxmlformats.org/officeDocument/2006/relationships" r:id="Rba224ea603b14706"/>
  </p:notesMasterIdLst>
  <p:sldIdLst>
    <p:sldId xmlns:r="http://schemas.openxmlformats.org/officeDocument/2006/relationships" id="256" r:id="R548ddaf402994812"/>
    <p:sldId xmlns:r="http://schemas.openxmlformats.org/officeDocument/2006/relationships" id="257" r:id="R3524d0e30ff041c9"/>
    <p:sldId xmlns:r="http://schemas.openxmlformats.org/officeDocument/2006/relationships" id="258" r:id="Rdf4e2e31e2a34666"/>
    <p:sldId xmlns:r="http://schemas.openxmlformats.org/officeDocument/2006/relationships" id="259" r:id="Ra57a6c13a6a24bab"/>
    <p:sldId xmlns:r="http://schemas.openxmlformats.org/officeDocument/2006/relationships" id="260" r:id="R4e10cf09ce88409e"/>
    <p:sldId xmlns:r="http://schemas.openxmlformats.org/officeDocument/2006/relationships" id="261" r:id="Reb8ee7f36b6448bf"/>
    <p:sldId xmlns:r="http://schemas.openxmlformats.org/officeDocument/2006/relationships" id="262" r:id="R64f23c1d5e8e4eec"/>
    <p:sldId xmlns:r="http://schemas.openxmlformats.org/officeDocument/2006/relationships" id="263" r:id="R8be266dd1f624c3c"/>
    <p:sldId xmlns:r="http://schemas.openxmlformats.org/officeDocument/2006/relationships" id="264" r:id="R4423885f8686475a"/>
    <p:sldId xmlns:r="http://schemas.openxmlformats.org/officeDocument/2006/relationships" id="265" r:id="R426745e3a8994b92"/>
    <p:sldId xmlns:r="http://schemas.openxmlformats.org/officeDocument/2006/relationships" id="266" r:id="R5d1e3c2161aa4455"/>
    <p:sldId xmlns:r="http://schemas.openxmlformats.org/officeDocument/2006/relationships" id="267" r:id="R280b31ea66a94f90"/>
    <p:sldId xmlns:r="http://schemas.openxmlformats.org/officeDocument/2006/relationships" id="268" r:id="R8bff40d3faac4b79"/>
    <p:sldId xmlns:r="http://schemas.openxmlformats.org/officeDocument/2006/relationships" id="269" r:id="R516410df27e14680"/>
    <p:sldId xmlns:r="http://schemas.openxmlformats.org/officeDocument/2006/relationships" id="270" r:id="R75c4e302d31844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ea31e475564dc1" /><Relationship Type="http://schemas.openxmlformats.org/officeDocument/2006/relationships/slideMaster" Target="/ppt/slideMasters/slideMaster1.xml" Id="R9a4ef1e0ca3b4d43" /><Relationship Type="http://schemas.openxmlformats.org/officeDocument/2006/relationships/notesMaster" Target="/ppt/notesMasters/notesMaster1.xml" Id="Rba224ea603b14706" /><Relationship Type="http://schemas.openxmlformats.org/officeDocument/2006/relationships/presProps" Target="/ppt/presProps.xml" Id="Rdd2fd6448b4e4d06" /><Relationship Type="http://schemas.openxmlformats.org/officeDocument/2006/relationships/tableStyles" Target="/ppt/tableStyles.xml" Id="Rdd29e66489e14e69" /><Relationship Type="http://schemas.openxmlformats.org/officeDocument/2006/relationships/slide" Target="/ppt/slides/slide1.xml" Id="R548ddaf402994812" /><Relationship Type="http://schemas.openxmlformats.org/officeDocument/2006/relationships/slide" Target="/ppt/slides/slide2.xml" Id="R3524d0e30ff041c9" /><Relationship Type="http://schemas.openxmlformats.org/officeDocument/2006/relationships/slide" Target="/ppt/slides/slide3.xml" Id="Rdf4e2e31e2a34666" /><Relationship Type="http://schemas.openxmlformats.org/officeDocument/2006/relationships/slide" Target="/ppt/slides/slide4.xml" Id="Ra57a6c13a6a24bab" /><Relationship Type="http://schemas.openxmlformats.org/officeDocument/2006/relationships/slide" Target="/ppt/slides/slide5.xml" Id="R4e10cf09ce88409e" /><Relationship Type="http://schemas.openxmlformats.org/officeDocument/2006/relationships/slide" Target="/ppt/slides/slide6.xml" Id="Reb8ee7f36b6448bf" /><Relationship Type="http://schemas.openxmlformats.org/officeDocument/2006/relationships/slide" Target="/ppt/slides/slide7.xml" Id="R64f23c1d5e8e4eec" /><Relationship Type="http://schemas.openxmlformats.org/officeDocument/2006/relationships/slide" Target="/ppt/slides/slide8.xml" Id="R8be266dd1f624c3c" /><Relationship Type="http://schemas.openxmlformats.org/officeDocument/2006/relationships/slide" Target="/ppt/slides/slide9.xml" Id="R4423885f8686475a" /><Relationship Type="http://schemas.openxmlformats.org/officeDocument/2006/relationships/slide" Target="/ppt/slides/slide10.xml" Id="R426745e3a8994b92" /><Relationship Type="http://schemas.openxmlformats.org/officeDocument/2006/relationships/slide" Target="/ppt/slides/slide11.xml" Id="R5d1e3c2161aa4455" /><Relationship Type="http://schemas.openxmlformats.org/officeDocument/2006/relationships/slide" Target="/ppt/slides/slide12.xml" Id="R280b31ea66a94f90" /><Relationship Type="http://schemas.openxmlformats.org/officeDocument/2006/relationships/slide" Target="/ppt/slides/slide13.xml" Id="R8bff40d3faac4b79" /><Relationship Type="http://schemas.openxmlformats.org/officeDocument/2006/relationships/slide" Target="/ppt/slides/slide14.xml" Id="R516410df27e14680" /><Relationship Type="http://schemas.openxmlformats.org/officeDocument/2006/relationships/slide" Target="/ppt/slides/slide15.xml" Id="R75c4e302d31844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a58c8ec2f045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8e3ddf848c49f0" /><Relationship Type="http://schemas.openxmlformats.org/officeDocument/2006/relationships/notesMaster" Target="/ppt/notesMasters/notesMaster1.xml" Id="R7dd57b0945e64c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fcbe19c72b4b8b" /><Relationship Type="http://schemas.openxmlformats.org/officeDocument/2006/relationships/notesMaster" Target="/ppt/notesMasters/notesMaster1.xml" Id="R6e603961b02141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5e6caf04c24664" /><Relationship Type="http://schemas.openxmlformats.org/officeDocument/2006/relationships/notesMaster" Target="/ppt/notesMasters/notesMaster1.xml" Id="R834fcf2ec8d048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a13cea010f41e9" /><Relationship Type="http://schemas.openxmlformats.org/officeDocument/2006/relationships/notesMaster" Target="/ppt/notesMasters/notesMaster1.xml" Id="R7e143a7cc44140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56f031353943ba" /><Relationship Type="http://schemas.openxmlformats.org/officeDocument/2006/relationships/notesMaster" Target="/ppt/notesMasters/notesMaster1.xml" Id="R8be6c3853c1d48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4885d7412a4ab4" /><Relationship Type="http://schemas.openxmlformats.org/officeDocument/2006/relationships/notesMaster" Target="/ppt/notesMasters/notesMaster1.xml" Id="R8af8c7ef9f4d41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dcbb3806114b33" /><Relationship Type="http://schemas.openxmlformats.org/officeDocument/2006/relationships/notesMaster" Target="/ppt/notesMasters/notesMaster1.xml" Id="R441a1f9805974f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032809a67245b9" /><Relationship Type="http://schemas.openxmlformats.org/officeDocument/2006/relationships/notesMaster" Target="/ppt/notesMasters/notesMaster1.xml" Id="R5ca70c90aa5247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9101927d134525" /><Relationship Type="http://schemas.openxmlformats.org/officeDocument/2006/relationships/notesMaster" Target="/ppt/notesMasters/notesMaster1.xml" Id="Rd7a67b0e09c646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4d582276374237" /><Relationship Type="http://schemas.openxmlformats.org/officeDocument/2006/relationships/notesMaster" Target="/ppt/notesMasters/notesMaster1.xml" Id="R32179ee5352e40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05da8114b1448a" /><Relationship Type="http://schemas.openxmlformats.org/officeDocument/2006/relationships/notesMaster" Target="/ppt/notesMasters/notesMaster1.xml" Id="Rdd77a7625eb942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be395409974e39" /><Relationship Type="http://schemas.openxmlformats.org/officeDocument/2006/relationships/notesMaster" Target="/ppt/notesMasters/notesMaster1.xml" Id="R0eed5ef39cbd4b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4d003fa2a34559" /><Relationship Type="http://schemas.openxmlformats.org/officeDocument/2006/relationships/notesMaster" Target="/ppt/notesMasters/notesMaster1.xml" Id="Rc055d7abd98644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abf8ca6b4a450d" /><Relationship Type="http://schemas.openxmlformats.org/officeDocument/2006/relationships/notesMaster" Target="/ppt/notesMasters/notesMaster1.xml" Id="R390788484ba849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07d3bd8caa4864" /><Relationship Type="http://schemas.openxmlformats.org/officeDocument/2006/relationships/notesMaster" Target="/ppt/notesMasters/notesMaster1.xml" Id="Re4134de1eb7b44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docs/DEFENSE_SCRIPT.md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docs/DEFENSE_SCRIPT.md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docs/DEFENSE_SCRIPT.md; docs/DEMO_ERP.md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docs/DATASET_FINAL_F.md; docs/DATASET_METHODS_V13.md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docs/DATASET_FINAL_F.md; configs/train-quality90-f-v13-audited-labels.json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docs/CANDIDATE_F_RESULTS.md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docs/CANDIDATE_F_RESULTS.md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docs/CANDIDATE_F_RESULTS.md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deliverables/presentation/screenshots/client-chat.jpg; Скриншот локального приложения. Сохранённый ручной демо-запрос, BF16.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deliverables/presentation/screenshots/model-comparison.jpg; Ручной пример интерфейса, BF16. Он не является новой оценкой качества.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deliverables/presentation/screenshots/trace.jpg; Контекст, вызов модели и окончательный маршрут можно проверить по шагам.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deliverables/presentation/screenshots/operator-queue.jpg; Специалист получает обращение и переписку. Это локальная демонстрационная очередь.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deliverables/presentation/screenshots/quality.jpg; Замороженный результат NF4 отделён от текущего режима демонстрации BF16.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reports/business-metrics.md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docs/SUBMISSION_CHECKLIST.md; docs/CANDIDATE_F_RESULTS.md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2df39e48842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ead32fea6a4e76" /><Relationship Type="http://schemas.openxmlformats.org/officeDocument/2006/relationships/slideLayout" Target="/ppt/slideLayouts/slideLayout1.xml" Id="R9c22f5fc6d0e4f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22f5fc6d0e4f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4647b4f284905" /><Relationship Type="http://schemas.openxmlformats.org/officeDocument/2006/relationships/notesSlide" Target="/ppt/notesSlides/notesSlide1.xml" Id="Rc9849068b5a0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70d744f4c47ea" /><Relationship Type="http://schemas.openxmlformats.org/officeDocument/2006/relationships/notesSlide" Target="/ppt/notesSlides/notesSlide2.xml" Id="Ra7c162ee2db5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d0c1de1134e57" /><Relationship Type="http://schemas.openxmlformats.org/officeDocument/2006/relationships/notesSlide" Target="/ppt/notesSlides/notesSlide3.xml" Id="R34701b5de47141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9ea67fab34cd1" /><Relationship Type="http://schemas.openxmlformats.org/officeDocument/2006/relationships/notesSlide" Target="/ppt/notesSlides/notesSlide4.xml" Id="Rb0555330e65844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e33dbf5c24905" /><Relationship Type="http://schemas.openxmlformats.org/officeDocument/2006/relationships/notesSlide" Target="/ppt/notesSlides/notesSlide5.xml" Id="Rf2ef351790cc4d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321227ef1465d" /><Relationship Type="http://schemas.openxmlformats.org/officeDocument/2006/relationships/notesSlide" Target="/ppt/notesSlides/notesSlide6.xml" Id="R9f8eb80eb6414c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f0293f84c484f" /><Relationship Type="http://schemas.openxmlformats.org/officeDocument/2006/relationships/chart" Target="/ppt/slides/charts/chart1.xml" Id="Rbf66e97a8e064b0c" /><Relationship Type="http://schemas.openxmlformats.org/officeDocument/2006/relationships/notesSlide" Target="/ppt/notesSlides/notesSlide7.xml" Id="Re2e810d1368b40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0c5fa8bde4a50" /><Relationship Type="http://schemas.openxmlformats.org/officeDocument/2006/relationships/notesSlide" Target="/ppt/notesSlides/notesSlide8.xml" Id="Rd04a9a3262674e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1508a1107442c" /><Relationship Type="http://schemas.openxmlformats.org/officeDocument/2006/relationships/image" Target="/ppt/media/image.jpeg" Id="R18a02c65bdbc47f2" /><Relationship Type="http://schemas.openxmlformats.org/officeDocument/2006/relationships/notesSlide" Target="/ppt/notesSlides/notesSlide9.xml" Id="R7209a4e547f040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80a30cc594689" /><Relationship Type="http://schemas.openxmlformats.org/officeDocument/2006/relationships/image" Target="/ppt/media/image2.jpeg" Id="R803835def8d3451b" /><Relationship Type="http://schemas.openxmlformats.org/officeDocument/2006/relationships/notesSlide" Target="/ppt/notesSlides/notesSlide10.xml" Id="R223251610f8d4d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5c090a59140b1" /><Relationship Type="http://schemas.openxmlformats.org/officeDocument/2006/relationships/image" Target="/ppt/media/image3.jpeg" Id="Rf3233141f74448dc" /><Relationship Type="http://schemas.openxmlformats.org/officeDocument/2006/relationships/notesSlide" Target="/ppt/notesSlides/notesSlide11.xml" Id="R8bb0fd3c27bd4e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045f8d60343bb" /><Relationship Type="http://schemas.openxmlformats.org/officeDocument/2006/relationships/image" Target="/ppt/media/image4.jpeg" Id="R87aa3d83b04b46fd" /><Relationship Type="http://schemas.openxmlformats.org/officeDocument/2006/relationships/notesSlide" Target="/ppt/notesSlides/notesSlide12.xml" Id="R5a3f3d95424848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2d271d2d64311" /><Relationship Type="http://schemas.openxmlformats.org/officeDocument/2006/relationships/image" Target="/ppt/media/image5.jpeg" Id="R654be271003b4325" /><Relationship Type="http://schemas.openxmlformats.org/officeDocument/2006/relationships/notesSlide" Target="/ppt/notesSlides/notesSlide13.xml" Id="R2b3a15ff3fa44e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1536fc1ce4815" /><Relationship Type="http://schemas.openxmlformats.org/officeDocument/2006/relationships/notesSlide" Target="/ppt/notesSlides/notesSlide14.xml" Id="Rd826a24bfae649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901b0cabf489d" /><Relationship Type="http://schemas.openxmlformats.org/officeDocument/2006/relationships/notesSlide" Target="/ppt/notesSlides/notesSlide15.xml" Id="Rff8bf46e36d8444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Успешных диалогов из 100</c:v>
          </c:tx>
          <c:spPr>
            <a:solidFill xmlns:a="http://schemas.openxmlformats.org/drawingml/2006/main">
              <a:srgbClr val="A15F4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3989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15F40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Base</c:v>
                </c:pt>
                <c:pt idx="1">
                  <c:v>Fine-tuned F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10</c:v>
                </c:pt>
                <c:pt idx="1">
                  <c:v>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52A2D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49DF1-427A-4DAE-8847-2F0C7C40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2556E-653D-47B7-A381-33BC453B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BED14-3918-46A8-ADC5-6FBA5D06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49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AI Customer</a:t>
            </a:r>
          </a:p>
          <a:p xmlns:a="http://schemas.openxmlformats.org/drawingml/2006/main">
            <a:pPr>
              <a:defRPr sz="49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49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Support Manager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95D33-10AA-4F53-B0C1-793D71D8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Локальная поддержка клиентов и сотрудников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793F1-917C-494A-BA45-371B4FB4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SaaS, демонстрационная ERP и адаптация Qwen3 4B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3BE73-5CE2-4908-8AE4-2DC3B8A2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Курсовой проект · сентябрь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582409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017F3-DADD-4D80-80C8-C17979FE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Обращения клиентов и сотрудников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23FEA-444D-403F-AE72-7E981103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631B3-CBAA-44FD-BCA4-371C67AD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Клиенты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7D928-7713-40BF-A5FF-9929F81E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Счета и оплата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SIM и подключение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Качество связи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6CB79-1E1E-4840-B8B0-D263B9C4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Сотрудники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28657-E0A6-4EE4-A064-046B0BCB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Доступ к ERP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Бизнес-процессы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Ошибки и интеграции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94C25-A287-483B-8137-5F19C0A1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Оператору нужны факты и история, чтобы дать ответ</a:t>
            </a:r>
          </a:p>
          <a:p xmlns:a="http://schemas.openxmlformats.org/drawingml/2006/main">
            <a:pPr>
              <a:defRPr sz="23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или передать проблему нужному специалисту.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E8EDB-AF7B-4B83-B2EA-B33CDB82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Демо использует вымышленные данные. Интеграции с реальной NLS нет.</a:t>
            </a:r>
          </a:p>
        </p:txBody>
      </p:sp>
    </p:spTree>
    <p:extLst>
      <p:ext uri="{BB962C8B-B14F-4D97-AF65-F5344CB8AC3E}">
        <p14:creationId xmlns:p14="http://schemas.microsoft.com/office/powerpoint/2010/main" val="1187952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ED8E9-744E-4515-BFC1-AB769BE0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Обработка обращения в LangGraph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B65F1-FD47-4471-B4F4-60635838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C6213-93EF-49F2-8609-AE797BD3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A621E-2111-4156-A1BB-F4B3A7E9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7637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Сообщение и история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6F09D-E523-4D8C-BA1C-A73B2FE9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Сервер сохраняет контекст разговора.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98D15-0389-4FBE-858B-2E9DC9E8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B610F-50F8-467D-B104-901CB069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Политика и ERP-факты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F90AC-0AEE-425D-98BA-90B7A75C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Система добавляет разрешённые данные по объекту.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2DCD3-844F-4007-829F-F0C200A6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73AE3-4C22-416D-AD0C-613FFEE8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Локальная модель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0EA69-7659-446C-B378-6C3272BD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Модель предлагает метки, ответ и решение о передаче.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FD31D-2CB7-4939-BA6E-553AFA38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52787-5136-4458-80B7-CA1E8034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Проверка и маршрут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32728-67A5-465F-99FF-C0605B9B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Сервер проверяет результат и возвращает ответ или создаёт очередь.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2F123-8D50-4DBC-B2C2-5E90B121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FastAPI обслуживает чат и админку. Решения модели и сервера видны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67987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9B35B-2E40-40EA-A405-14B1D44A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Данные финального кандидата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24DBB-ECFD-4D2E-BC9A-F325D39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F6F6C-3680-4064-BC13-AB6D6170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430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1D053-3A9B-4A44-9A6E-9183E6B2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TRAIN-диалогов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39F53-D2D3-471A-9EC7-6129EB6F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1 113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DBE23-BD19-49FD-96D1-001E00B3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целевых ответов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320EB-1F73-4E5D-B839-0557182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Русскоязычные синтетические сценарии ERP и телекома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78555-BAC5-4DFC-A490-E18067D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13 локальных шардов. Проверки учитывают целые истории.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В v13 исправлены 17 эталонов и исключены 2 диалога.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8971E-DB1F-456D-97FC-5EBFE4A8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AI-аудит выборки: 52 диалога / 155 ходов. Человеческого утверждения корпуса нет.</a:t>
            </a:r>
          </a:p>
        </p:txBody>
      </p:sp>
    </p:spTree>
    <p:extLst>
      <p:ext uri="{BB962C8B-B14F-4D97-AF65-F5344CB8AC3E}">
        <p14:creationId xmlns:p14="http://schemas.microsoft.com/office/powerpoint/2010/main" val="1263807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EC76A-F3D4-484B-A9DE-0115C307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Обучение QLoRA на ноутбуке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EE886-194F-45A5-82B8-F2C0FFBB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5E9E0-25B3-495F-81FE-F9FF010F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Qwen3-4B-Instruct-2507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CF1DE-3592-4E4B-A650-1B3DCABA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Адаптер 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12919-2600-4802-8755-E14F6314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Чистая Base в NF4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LoRA r16 / alpha32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2 эпохи, 558 шагов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95F7C-FF6F-4D03-95B8-BCCBAA0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Контекст обучения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A9C5C-0EB8-483B-B568-1F50145E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История из эталонных ответов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Loss только по текущей цели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Контрольные точки для продолжения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2E0F2-A67D-4C5F-8E10-1A986340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Замороженная оценка: NF4. Текущая демонстрация: BF16. Обучение завершено.</a:t>
            </a:r>
          </a:p>
        </p:txBody>
      </p:sp>
    </p:spTree>
    <p:extLst>
      <p:ext uri="{BB962C8B-B14F-4D97-AF65-F5344CB8AC3E}">
        <p14:creationId xmlns:p14="http://schemas.microsoft.com/office/powerpoint/2010/main" val="468693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37DE3-2B90-45C7-8CEB-8581ED48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Как определяется успех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33887-D444-4A18-9970-A4542889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6FF1C-C83D-4003-BC7A-E860B25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Один успешный диалог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500FF-F062-4AEC-800C-9B4B7A27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Каждый ход должен пройти проверку формата,</a:t>
            </a:r>
          </a:p>
          <a:p xmlns:a="http://schemas.openxmlformats.org/drawingml/2006/main">
            <a:pPr>
              <a:defRPr sz="247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всех пяти меток и шести смысловых критериев.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2F368-61BB-4189-B2BF-53918709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Понятность ответа, полезный следующий шаг, контекст,</a:t>
            </a:r>
          </a:p>
          <a:p xmlns:a="http://schemas.openxmlformats.org/drawingml/2006/main">
            <a:pPr>
              <a:defRPr sz="1950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отсутствие повторов, опора на факты и согласованность с политикой.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3646D-95A5-45CB-8510-3327E12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Синтетический development: 100 диалогов / 225 ответов. Оценка AI, статус QUALIFIED.</a:t>
            </a:r>
          </a:p>
        </p:txBody>
      </p:sp>
    </p:spTree>
    <p:extLst>
      <p:ext uri="{BB962C8B-B14F-4D97-AF65-F5344CB8AC3E}">
        <p14:creationId xmlns:p14="http://schemas.microsoft.com/office/powerpoint/2010/main" val="46889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A946E-E5EA-4C47-9CC5-6D104F14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Успешные диалоги на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B8864-01EB-41F4-8303-11D7C024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62000" y="1495425"/>
          <a:ext xmlns:a="http://schemas.openxmlformats.org/drawingml/2006/main" cx="7000875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66e97a8e064b0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4D08B-0E6E-4480-ADEE-A06E70C2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33575"/>
            <a:ext cx="295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+39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83474-CE61-4868-819F-8F100956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диалогов из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346B8-C797-4FB5-9C7A-E246267A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2905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Описательный результат</a:t>
            </a:r>
          </a:p>
          <a:p xmlns:a="http://schemas.openxmlformats.org/drawingml/2006/main">
            <a:pPr>
              <a:defRPr sz="1875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AI-assessed, NF4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FA99F-D4CB-4B45-8B44-B2E7F60D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Human review и финальный test не выполнены. Формальный full_success_rate = null.</a:t>
            </a:r>
          </a:p>
        </p:txBody>
      </p:sp>
    </p:spTree>
    <p:extLst>
      <p:ext uri="{BB962C8B-B14F-4D97-AF65-F5344CB8AC3E}">
        <p14:creationId xmlns:p14="http://schemas.microsoft.com/office/powerpoint/2010/main" val="1472724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82B38-5EFF-4707-990D-BAFB172F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Точность меток отдельных ответов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D028B-5AFA-4F78-AD07-8B3082FD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10300"/>
                <a:gridCol w="2381250"/>
                <a:gridCol w="2381250"/>
              </a:tblGrid>
              <a:tr h="575582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Поле</a:t>
                      </a:r>
                    </a:p>
                  </a:txBody>
                  <a:tcPr marL="91440" marR="91440" marT="45720" marB="45720">
                    <a:solidFill>
                      <a:srgbClr val="25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25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Fine-tuned F</a:t>
                      </a:r>
                    </a:p>
                  </a:txBody>
                  <a:tcPr marL="91440" marR="91440" marT="45720" marB="45720">
                    <a:solidFill>
                      <a:srgbClr val="252A2D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Категория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79,1%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A15F40"/>
                          </a:solidFill>
                          <a:latin typeface="Segoe UI"/>
                          <a:ea typeface="Segoe UI"/>
                          <a:cs typeface="Segoe UI"/>
                        </a:rPr>
                        <a:t>92,4%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Приоритет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69,3%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A15F40"/>
                          </a:solidFill>
                          <a:latin typeface="Segoe UI"/>
                          <a:ea typeface="Segoe UI"/>
                          <a:cs typeface="Segoe UI"/>
                        </a:rPr>
                        <a:t>88,4%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Настроение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93,3%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A15F40"/>
                          </a:solidFill>
                          <a:latin typeface="Segoe UI"/>
                          <a:ea typeface="Segoe UI"/>
                          <a:cs typeface="Segoe UI"/>
                        </a:rPr>
                        <a:t>99,1%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Рекомендуемое действие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49,3%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A15F40"/>
                          </a:solidFill>
                          <a:latin typeface="Segoe UI"/>
                          <a:ea typeface="Segoe UI"/>
                          <a:cs typeface="Segoe UI"/>
                        </a:rPr>
                        <a:t>91,6%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Передача оператору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59,6%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A15F40"/>
                          </a:solidFill>
                          <a:latin typeface="Segoe UI"/>
                          <a:ea typeface="Segoe UI"/>
                          <a:cs typeface="Segoe UI"/>
                        </a:rPr>
                        <a:t>92,9%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Все пять одновременно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2A2D"/>
                          </a:solidFill>
                          <a:latin typeface="Segoe UI"/>
                          <a:ea typeface="Segoe UI"/>
                          <a:cs typeface="Segoe UI"/>
                        </a:rPr>
                        <a:t>28,4%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A15F40"/>
                          </a:solidFill>
                          <a:latin typeface="Segoe UI"/>
                          <a:ea typeface="Segoe UI"/>
                          <a:cs typeface="Segoe UI"/>
                        </a:rPr>
                        <a:t>77,8%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57D87-0CFD-4A9C-A295-27155F87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225 ответов на модель. Верные метки ещё не означают полный успех диалога.</a:t>
            </a:r>
          </a:p>
        </p:txBody>
      </p:sp>
    </p:spTree>
    <p:extLst>
      <p:ext uri="{BB962C8B-B14F-4D97-AF65-F5344CB8AC3E}">
        <p14:creationId xmlns:p14="http://schemas.microsoft.com/office/powerpoint/2010/main" val="604663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E6BE1-CD41-4FD3-ADF1-12591B89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Чат клиента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EF92C-85B8-4426-BC65-C7FF82B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02c65bdbc47f2"/>
          <a:stretch xmlns:a="http://schemas.openxmlformats.org/drawingml/2006/main"/>
        </p:blipFill>
        <p:spPr>
          <a:xfrm xmlns:a="http://schemas.openxmlformats.org/drawingml/2006/main">
            <a:off x="2072221" y="1200150"/>
            <a:ext cx="8047558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956AD-EA6F-404B-98AF-963CDBA9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История и метки доступны вместе с ответом. Скриншот локального приложения. Сохранённый ручной демо-запрос, BF16.</a:t>
            </a:r>
          </a:p>
        </p:txBody>
      </p:sp>
    </p:spTree>
    <p:extLst>
      <p:ext uri="{BB962C8B-B14F-4D97-AF65-F5344CB8AC3E}">
        <p14:creationId xmlns:p14="http://schemas.microsoft.com/office/powerpoint/2010/main" val="1564637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5584D-B060-4299-B915-83A967DA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Сравнение Base и Fine-tuned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674CB-1000-4B35-A983-D77BB983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35def8d3451b"/>
          <a:stretch xmlns:a="http://schemas.openxmlformats.org/drawingml/2006/main"/>
        </p:blipFill>
        <p:spPr>
          <a:xfrm xmlns:a="http://schemas.openxmlformats.org/drawingml/2006/main">
            <a:off x="2072221" y="1200150"/>
            <a:ext cx="8047558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A0CCD-8028-4E6B-9CC1-F1BDFE6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Общий вопрос, отдельные ответы и решения моделей. Ручной пример интерфейса, BF16. Он не является новой оценкой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310515159"/>
      </p:ext>
    </p:extLst>
  </p:cSld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5F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">
            <ns1:extLst>
              <ns1:ext uri="{FF2B5EF4-FFF2-40B4-BE49-F238E27FC236}">
                <ns2:creationId id="{5EAF7686-81A1-446D-B292-D311EFA07B5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252A2D"/>
                </ns1:solidFill>
                <ns1:latin typeface="Segoe UI"/>
                <ns1:ea typeface="Segoe UI"/>
                <ns1:cs typeface="Segoe UI"/>
              </ns1:defRPr>
            </ns1:pPr>
            <ns1:r>
              <ns1:rPr sz="3150" b="1">
                <ns1:solidFill>
                  <ns1:srgbClr val="252A2D"/>
                </ns1:solidFill>
                <ns1:latin typeface="Segoe UI"/>
                <ns1:ea typeface="Segoe UI"/>
                <ns1:cs typeface="Segoe UI"/>
              </ns1:rPr>
              <ns1:t>Трассировка решения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3BB794E0-26B3-4628-8310-862689440728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0" y="6429375"/>
            <ns1:ext cx="523875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00" b="0">
                <ns1:solidFill>
                  <ns1:srgbClr val="666A69"/>
                </ns1:solidFill>
                <ns1:latin typeface="Segoe UI"/>
                <ns1:ea typeface="Segoe UI"/>
                <ns1:cs typeface="Segoe UI"/>
              </ns1:defRPr>
            </ns1:pPr>
            <ns1:r>
              <ns1:rPr sz="1200" b="0">
                <ns1:solidFill>
                  <ns1:srgbClr val="666A69"/>
                </ns1:solidFill>
                <ns1:latin typeface="Segoe UI"/>
                <ns1:ea typeface="Segoe UI"/>
                <ns1:cs typeface="Segoe UI"/>
              </ns1:rPr>
              <ns1:t>11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FB4417B5-CA25-4A41-BD95-2632AFD400B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743075"/>
            <ns1:ext cx="4429125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700" b="1">
                <ns1:solidFill>
                  <ns1:srgbClr val="A15F40"/>
                </ns1:solidFill>
                <ns1:latin typeface="Segoe UI"/>
                <ns1:ea typeface="Segoe UI"/>
                <ns1:cs typeface="Segoe UI"/>
              </ns1:defRPr>
            </ns1:pPr>
            <ns1:r>
              <ns1:rPr sz="2700" b="1">
                <ns1:solidFill>
                  <ns1:srgbClr val="A15F40"/>
                </ns1:solidFill>
                <ns1:latin typeface="Segoe UI"/>
                <ns1:ea typeface="Segoe UI"/>
                <ns1:cs typeface="Segoe UI"/>
              </ns1:rPr>
              <ns1:t>Путь обращения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2662BFC2-3BDC-4E05-8475-93EFAF453A3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267075"/>
            <ns1:ext cx="4429125" cy="166687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025" b="0">
                <ns1:solidFill>
                  <ns1:srgbClr val="252A2D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252A2D"/>
                </ns1:solidFill>
                <ns1:latin typeface="Segoe UI"/>
                <ns1:ea typeface="Segoe UI"/>
                <ns1:cs typeface="Segoe UI"/>
              </ns1:rPr>
              <ns1:t>Контекст, вызов модели и окончательный маршрут можно проверить по шагам.</ns1:t>
            </ns1:r>
          </ns1:p>
        </ns0:txBody>
      </ns0:sp>
      <ns0:pic>
        <ns0:nvPicPr>
          <ns0:cNvPr id="10" name=""/>
          <ns0:cNvPicPr>
            <ns1:picLocks noChangeAspect="1"/>
          </ns0:cNvPicPr>
          <ns0:nvPr/>
        </ns0:nvPicPr>
        <ns0:blipFill>
          <ns1:blip ns3:embed="Rf3233141f74448dc"/>
          <ns1:srcRect l="48819" t="0" r="3622" b="0"/>
          <ns1:stretch>
            <ns1:fillRect l="0" t="0" r="0" b="0"/>
          </ns1:stretch>
        </ns0:blipFill>
        <ns0:spPr>
          <ns1:xfrm>
            <ns1:off x="6477000" y="1219200"/>
            <ns1:ext cx="4267200" cy="5048250"/>
          </ns1:xfrm>
          <ns1:prstGeom prst="rect">
            <ns1:avLst/>
          </ns1:prstGeom>
        </ns0:spPr>
      </ns0:pic>
    </ns0:spTree>
    <ns0:extLst>
      <ns0:ext uri="{BB962C8B-B14F-4D97-AF65-F5344CB8AC3E}">
        <ns4:creationId val="1865620545"/>
      </ns0:ext>
    </ns0:extLst>
  </ns0:cSld>
</ns0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11FF9-D447-4BC2-A8CE-E2607664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Очередь оператора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287C3-0D15-4C94-9FEE-E2A034B0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a3d83b04b46fd"/>
          <a:stretch xmlns:a="http://schemas.openxmlformats.org/drawingml/2006/main"/>
        </p:blipFill>
        <p:spPr>
          <a:xfrm xmlns:a="http://schemas.openxmlformats.org/drawingml/2006/main">
            <a:off x="2072221" y="1200150"/>
            <a:ext cx="8047558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2EE81-DC42-43CC-BB6E-24DEC19B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Передача с контекстом. Специалист получает обращение и переписку. Это локальная демонстрационная очередь.</a:t>
            </a:r>
          </a:p>
        </p:txBody>
      </p:sp>
    </p:spTree>
    <p:extLst>
      <p:ext uri="{BB962C8B-B14F-4D97-AF65-F5344CB8AC3E}">
        <p14:creationId xmlns:p14="http://schemas.microsoft.com/office/powerpoint/2010/main" val="13023176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887D0-ECC0-41BD-B2FD-8ED315E0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Результаты оценки в админке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C2114-3269-4AD4-A338-2C0A3105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be271003b4325"/>
          <a:stretch xmlns:a="http://schemas.openxmlformats.org/drawingml/2006/main"/>
        </p:blipFill>
        <p:spPr>
          <a:xfrm xmlns:a="http://schemas.openxmlformats.org/drawingml/2006/main">
            <a:off x="2072221" y="1200150"/>
            <a:ext cx="8047558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AE297-0037-47CB-89BA-970D2718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Агрегаты сравнения доступны в продукте. Замороженный результат NF4 отделён от текущего режима демонстрации BF16.</a:t>
            </a:r>
          </a:p>
        </p:txBody>
      </p:sp>
    </p:spTree>
    <p:extLst>
      <p:ext uri="{BB962C8B-B14F-4D97-AF65-F5344CB8AC3E}">
        <p14:creationId xmlns:p14="http://schemas.microsoft.com/office/powerpoint/2010/main" val="7442304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C5207-0BA7-4953-ABE6-F6435A01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Ресурсы локального запуска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9D9DE-68D7-4695-96EE-188245A5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792ED-1DAC-4226-A1C4-07484ED3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23 767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8007B-5FC1-4690-B9F6-AD515D2F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токенов за 5 сообщений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41E32-3AE8-4CDB-80AB-5F910123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1447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0 USD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BF182-705B-4D70-99CF-D46B6CD1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фактическая оплата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EE28C-D4CC-49CF-9A86-FC384340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Медиана генерации 24,05 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7FD9C-0F49-4D38-920B-84AB471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4 диалога в ручном ERP-прогоне. В 2 из них была передача.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Экономия времени оператора и полная себестоимость пока не измерены.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9AF96-137F-4E68-88A1-AE468350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Время генерации исключает очередь и доставку ответа. Электричество и оборудование не бесплатны.</a:t>
            </a:r>
          </a:p>
        </p:txBody>
      </p:sp>
    </p:spTree>
    <p:extLst>
      <p:ext uri="{BB962C8B-B14F-4D97-AF65-F5344CB8AC3E}">
        <p14:creationId xmlns:p14="http://schemas.microsoft.com/office/powerpoint/2010/main" val="1259614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B244D-A7A0-4F14-A40F-22439FF1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Готовность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D2A4B-01B5-4F5F-9C61-DED3786B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6A69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448CC-1C74-4D14-88FE-D33E8B08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Работает локально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6B148-EA8F-44D8-B34B-92C43247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Чат с историей и админка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Демонстрационная ERP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Адаптер F и сравнение моделей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Учёт токенов и трассировка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C3030-FBAD-4F9D-A254-B0F7F290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Остаётся проверить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8AF40-66F9-4C9F-9FCB-870F5749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Человеческая оценка и final test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Установка на чистом компьютере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Работа на реальных обращениях</a:t>
            </a:r>
          </a:p>
          <a:p xmlns:a="http://schemas.openxmlformats.org/drawingml/2006/main">
            <a:pPr>
              <a:defRPr sz="2025" b="0">
                <a:solidFill>
                  <a:srgbClr val="252A2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2A2D"/>
                </a:solidFill>
                <a:latin typeface="Segoe UI"/>
                <a:ea typeface="Segoe UI"/>
                <a:cs typeface="Segoe UI"/>
              </a:rPr>
              <a:t>Права для публикации и продажи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76446-42CE-47EC-842E-3048192B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Полный технический путь реализован.</a:t>
            </a:r>
          </a:p>
          <a:p xmlns:a="http://schemas.openxmlformats.org/drawingml/2006/main">
            <a:pPr>
              <a:defRPr sz="2250" b="1">
                <a:solidFill>
                  <a:srgbClr val="A15F4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A15F40"/>
                </a:solidFill>
                <a:latin typeface="Segoe UI"/>
                <a:ea typeface="Segoe UI"/>
                <a:cs typeface="Segoe UI"/>
              </a:rPr>
              <a:t>Готовность к автономной поддержке пока не доказана.</a:t>
            </a:r>
          </a:p>
        </p:txBody>
      </p:sp>
    </p:spTree>
    <p:extLst>
      <p:ext uri="{BB962C8B-B14F-4D97-AF65-F5344CB8AC3E}">
        <p14:creationId xmlns:p14="http://schemas.microsoft.com/office/powerpoint/2010/main" val="406530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2026-09-19T10:22:20.5550000Z</dcterms:created>
  <dcterms:modified xsi:type="dcterms:W3CDTF">2026-09-19T10:22:20.5550000Z</dcterms:modified>
</coreProperties>
</file>